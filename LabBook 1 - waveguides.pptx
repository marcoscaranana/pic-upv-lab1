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5" r:id="rId3"/>
    <p:sldId id="290" r:id="rId4"/>
    <p:sldId id="292" r:id="rId5"/>
    <p:sldId id="297" r:id="rId6"/>
    <p:sldId id="298" r:id="rId7"/>
    <p:sldId id="293" r:id="rId8"/>
    <p:sldId id="299" r:id="rId9"/>
    <p:sldId id="301" r:id="rId10"/>
    <p:sldId id="300" r:id="rId11"/>
    <p:sldId id="288" r:id="rId12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3A380-F68D-4B97-8CF0-04FACEB71A64}" v="8" dt="2026-02-16T10:00:04.3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custSel addSld delSld modSld">
      <pc:chgData name="Christian Camilo Cano Vasquez" userId="8c73a2a4-758b-4e34-81ed-39462e48bd92" providerId="ADAL" clId="{E6287060-0277-4BCC-9556-78F4A9113EC4}" dt="2026-02-16T10:00:04.333" v="112"/>
      <pc:docMkLst>
        <pc:docMk/>
      </pc:docMkLst>
      <pc:sldChg chg="addSp delSp modSp mod">
        <pc:chgData name="Christian Camilo Cano Vasquez" userId="8c73a2a4-758b-4e34-81ed-39462e48bd92" providerId="ADAL" clId="{E6287060-0277-4BCC-9556-78F4A9113EC4}" dt="2026-02-16T09:54:36.314" v="109" actId="20577"/>
        <pc:sldMkLst>
          <pc:docMk/>
          <pc:sldMk cId="730501311" sldId="290"/>
        </pc:sldMkLst>
        <pc:spChg chg="add mod">
          <ac:chgData name="Christian Camilo Cano Vasquez" userId="8c73a2a4-758b-4e34-81ed-39462e48bd92" providerId="ADAL" clId="{E6287060-0277-4BCC-9556-78F4A9113EC4}" dt="2026-02-16T09:48:48.742" v="10" actId="1076"/>
          <ac:spMkLst>
            <pc:docMk/>
            <pc:sldMk cId="730501311" sldId="290"/>
            <ac:spMk id="2" creationId="{029F2FF9-FEB4-7AA3-B3B4-EFA9CFA0E230}"/>
          </ac:spMkLst>
        </pc:spChg>
        <pc:spChg chg="add mod">
          <ac:chgData name="Christian Camilo Cano Vasquez" userId="8c73a2a4-758b-4e34-81ed-39462e48bd92" providerId="ADAL" clId="{E6287060-0277-4BCC-9556-78F4A9113EC4}" dt="2026-02-16T09:49:37.395" v="33" actId="20577"/>
          <ac:spMkLst>
            <pc:docMk/>
            <pc:sldMk cId="730501311" sldId="290"/>
            <ac:spMk id="4" creationId="{C2C94B57-6111-4070-F6BA-8C3B9C305618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7" creationId="{F917B3AA-589C-A90A-EE95-EE60C6D04663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9" creationId="{793F5757-34AB-6F24-0981-9F1F15A0ADF8}"/>
          </ac:spMkLst>
        </pc:spChg>
        <pc:spChg chg="del">
          <ac:chgData name="Christian Camilo Cano Vasquez" userId="8c73a2a4-758b-4e34-81ed-39462e48bd92" providerId="ADAL" clId="{E6287060-0277-4BCC-9556-78F4A9113EC4}" dt="2026-02-16T09:48:35.096" v="6" actId="478"/>
          <ac:spMkLst>
            <pc:docMk/>
            <pc:sldMk cId="730501311" sldId="290"/>
            <ac:spMk id="11" creationId="{8BD4C233-B5D9-B6AA-93A8-CF2F130CFF9C}"/>
          </ac:spMkLst>
        </pc:spChg>
        <pc:spChg chg="mod">
          <ac:chgData name="Christian Camilo Cano Vasquez" userId="8c73a2a4-758b-4e34-81ed-39462e48bd92" providerId="ADAL" clId="{E6287060-0277-4BCC-9556-78F4A9113EC4}" dt="2026-02-16T09:54:36.314" v="109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4:44.707" v="111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E6287060-0277-4BCC-9556-78F4A9113EC4}" dt="2026-02-16T09:51:39.768" v="80" actId="313"/>
          <ac:spMkLst>
            <pc:docMk/>
            <pc:sldMk cId="2900117438" sldId="292"/>
            <ac:spMk id="2" creationId="{82A62DD6-5488-72A1-9926-0CAEE59089A9}"/>
          </ac:spMkLst>
        </pc:spChg>
        <pc:spChg chg="mod">
          <ac:chgData name="Christian Camilo Cano Vasquez" userId="8c73a2a4-758b-4e34-81ed-39462e48bd92" providerId="ADAL" clId="{E6287060-0277-4BCC-9556-78F4A9113EC4}" dt="2026-02-16T09:54:44.707" v="111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0:51.822" v="37" actId="20577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16T09:45:25.127" v="4" actId="115"/>
          <ac:spMkLst>
            <pc:docMk/>
            <pc:sldMk cId="3660438245" sldId="293"/>
            <ac:spMk id="2" creationId="{FDE3A197-9508-F9F1-1FEB-FF883D78C151}"/>
          </ac:spMkLst>
        </pc:spChg>
        <pc:spChg chg="mod">
          <ac:chgData name="Christian Camilo Cano Vasquez" userId="8c73a2a4-758b-4e34-81ed-39462e48bd92" providerId="ADAL" clId="{E6287060-0277-4BCC-9556-78F4A9113EC4}" dt="2026-02-16T09:50:51.822" v="37" actId="20577"/>
          <ac:spMkLst>
            <pc:docMk/>
            <pc:sldMk cId="3660438245" sldId="293"/>
            <ac:spMk id="16" creationId="{742C31CE-19F0-B995-0997-9A2D6A879BF7}"/>
          </ac:spMkLst>
        </pc:spChg>
      </pc:sldChg>
      <pc:sldChg chg="modSp mod">
        <pc:chgData name="Christian Camilo Cano Vasquez" userId="8c73a2a4-758b-4e34-81ed-39462e48bd92" providerId="ADAL" clId="{E6287060-0277-4BCC-9556-78F4A9113EC4}" dt="2026-02-16T10:00:04.333" v="112"/>
        <pc:sldMkLst>
          <pc:docMk/>
          <pc:sldMk cId="473922805" sldId="295"/>
        </pc:sldMkLst>
        <pc:spChg chg="mod">
          <ac:chgData name="Christian Camilo Cano Vasquez" userId="8c73a2a4-758b-4e34-81ed-39462e48bd92" providerId="ADAL" clId="{E6287060-0277-4BCC-9556-78F4A9113EC4}" dt="2026-02-16T10:00:04.333" v="112"/>
          <ac:spMkLst>
            <pc:docMk/>
            <pc:sldMk cId="473922805" sldId="295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16T09:50:39.931" v="34" actId="47"/>
        <pc:sldMkLst>
          <pc:docMk/>
          <pc:sldMk cId="1245186850" sldId="296"/>
        </pc:sldMkLst>
      </pc:sldChg>
      <pc:sldChg chg="modSp add del">
        <pc:chgData name="Christian Camilo Cano Vasquez" userId="8c73a2a4-758b-4e34-81ed-39462e48bd92" providerId="ADAL" clId="{E6287060-0277-4BCC-9556-78F4A9113EC4}" dt="2026-02-16T09:50:57.288" v="39" actId="20577"/>
        <pc:sldMkLst>
          <pc:docMk/>
          <pc:sldMk cId="236054401" sldId="297"/>
        </pc:sldMkLst>
        <pc:spChg chg="mod">
          <ac:chgData name="Christian Camilo Cano Vasquez" userId="8c73a2a4-758b-4e34-81ed-39462e48bd92" providerId="ADAL" clId="{E6287060-0277-4BCC-9556-78F4A9113EC4}" dt="2026-02-16T09:50:57.288" v="39" actId="20577"/>
          <ac:spMkLst>
            <pc:docMk/>
            <pc:sldMk cId="236054401" sldId="297"/>
            <ac:spMk id="16" creationId="{394400B4-EE16-8E85-AB54-E82FE3B293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EB48-6BE3-6A74-4E95-7B354100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F8065F-7428-9FB0-F4E5-FE78C49F6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3BDEE9-8DB8-773B-94D9-F6F9F60A2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AAE543-14B1-22C5-2BD8-D0F4A9B24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265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1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NUL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M</a:t>
            </a:r>
            <a:r>
              <a:rPr lang="es-ES" dirty="0"/>
              <a:t>arcos Carañana Castillo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4"/>
              </a:rPr>
              <a:t>cccanvas-upv</a:t>
            </a:r>
            <a:r>
              <a:rPr lang="es-ES">
                <a:hlinkClick r:id="rId4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14CDD6-2B59-8488-4EB8-82801B4D3F22}"/>
              </a:ext>
            </a:extLst>
          </p:cNvPr>
          <p:cNvSpPr txBox="1"/>
          <p:nvPr/>
        </p:nvSpPr>
        <p:spPr>
          <a:xfrm>
            <a:off x="609441" y="4893722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izquierda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cambios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abruptos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grid resolution de 10, 20, 30 y 40.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grid resolution = 50,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converge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1,605.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Tomaremos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1,605.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),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observer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cambio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significativo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1.2 a 1.3.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1.5,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1.605,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así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tomaremos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bueno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1,605).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También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observer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variaciones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del grid resolution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maximum grid scaling.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mejor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configuración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grid_res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20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aporta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valor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similar 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grid_res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50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ahorramos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tiempo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computación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max_grid_res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1.5.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n 2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ADE01F7-22A0-7727-5062-DB1794F25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99" y="1466320"/>
            <a:ext cx="5408611" cy="294211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478951AE-0887-4B88-2C0B-14F880426B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2853" y="4441940"/>
            <a:ext cx="5486558" cy="300092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797CF78E-2440-A0FF-B71F-B38E7F5A9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1" y="4442842"/>
            <a:ext cx="5486559" cy="310985"/>
          </a:xfrm>
          <a:prstGeom prst="rect">
            <a:avLst/>
          </a:prstGeom>
        </p:spPr>
      </p:pic>
      <p:pic>
        <p:nvPicPr>
          <p:cNvPr id="32" name="Imagen 3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698A6A5-6250-0F2E-14DA-1C27B0CC72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01" y="1480045"/>
            <a:ext cx="5458699" cy="296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observer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medida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También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 y 3 (TE1 y TM1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respectivamente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(o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terminaría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Además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pendientes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las curvas TE1 y TM1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tambien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quiere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dcir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modods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rapidamente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Aumentando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aún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sacar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conclusion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rápidamente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7086600" y="1496221"/>
            <a:ext cx="7718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1167646-8130-B1AF-050D-39627CE80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63153"/>
            <a:ext cx="5562600" cy="3238228"/>
          </a:xfrm>
          <a:prstGeom prst="rect">
            <a:avLst/>
          </a:prstGeom>
        </p:spPr>
      </p:pic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C8FAA5A-1377-BBC5-1394-75BC0F429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6812" y="1462690"/>
            <a:ext cx="5472739" cy="318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4FC42EB-6A94-57A9-CFC3-5F9472E44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31" y="1496179"/>
            <a:ext cx="4851720" cy="3241608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CC3A8F7-0F87-EE98-88FF-82AEA840C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361" y="1480138"/>
            <a:ext cx="4473039" cy="3246667"/>
          </a:xfrm>
          <a:prstGeom prst="rect">
            <a:avLst/>
          </a:prstGeom>
        </p:spPr>
      </p:pic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8F59F881-C721-1FCF-81FF-F61160E611A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175"/>
          <a:stretch>
            <a:fillRect/>
          </a:stretch>
        </p:blipFill>
        <p:spPr>
          <a:xfrm>
            <a:off x="609441" y="4815187"/>
            <a:ext cx="5486559" cy="1474371"/>
          </a:xfrm>
          <a:prstGeom prst="rect">
            <a:avLst/>
          </a:prstGeom>
        </p:spPr>
      </p:pic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8623B0C4-8ABA-7E11-F30F-B67D52AC2F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357" y="4815187"/>
            <a:ext cx="5483626" cy="147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2ED00-9FF2-D754-F1B5-0D32107E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6AA137B5-F786-61D6-C58C-B9CDA6537D0D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6AA137B5-F786-61D6-C58C-B9CDA6537D0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90A47E2A-BB0D-B46B-7D7F-215A31018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121D094-BB5C-CCD8-98E4-4A4322FD4C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2786C2-9BBE-CBD4-EF0F-C8FFC271F30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6FDFEA1-DAD7-6FB6-3EC5-C88637572D1B}"/>
                  </a:ext>
                </a:extLst>
              </p:cNvPr>
              <p:cNvSpPr txBox="1"/>
              <p:nvPr/>
            </p:nvSpPr>
            <p:spPr>
              <a:xfrm>
                <a:off x="685800" y="1676400"/>
                <a:ext cx="11198542" cy="339323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on the results found for the TE0 and TM0 for both deep and shallow waveguides.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obtenidos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cabe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destacar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diferencia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entre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índices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slab ~0.02 RIU. 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índice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mayor para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slab,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debe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tiene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‘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espacio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’ (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slab)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propagarse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Sin embargo,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sufre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mayor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confinamiento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puede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inferir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obtenido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índice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grupo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Los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índices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grupo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(del modo TE0 y TM0)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tipo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 son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mayores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debido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geometría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Los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obtenidos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parámetro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 indican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dispersa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ligeramente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luz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un valor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negativa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parámetro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y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debe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propia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geometría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deep,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sus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paredes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laterals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totalmente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atacadas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aumente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dispersión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geométrica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 En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caso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la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guía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shallow, al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tener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slab,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campo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extiende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estructura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interactuando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 las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paredes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laterals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disminuyendo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la dispersion.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Además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podemos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observar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ajuste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líneas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ofrece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compact model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muy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bueno,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ajusta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manera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precisa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datos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simulados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6FDFEA1-DAD7-6FB6-3EC5-C88637572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676400"/>
                <a:ext cx="11198542" cy="33932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00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izquierda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desajuste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radio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destacable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observer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totals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radio,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radio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hasta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empiezan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dominar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Tiene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importancia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conocer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curva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encuentra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Bend radius = 75 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optimo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del radio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características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(Radio vs.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destacar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hay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radio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89" b="-13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C38D124B-6F19-5495-E8A3-A204D67F6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72" y="1447167"/>
            <a:ext cx="4058728" cy="3206113"/>
          </a:xfrm>
          <a:prstGeom prst="rect">
            <a:avLst/>
          </a:prstGeom>
        </p:spPr>
      </p:pic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EB70EEC-EF59-61B4-4F9C-DBDF848BDE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5746" y="1447167"/>
            <a:ext cx="4236854" cy="320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73068F-C18C-F171-C1E7-BA721EBEEFF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1183E648-2CF1-F617-74A4-6FF73638D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1" y="216277"/>
            <a:ext cx="7848600" cy="1398211"/>
          </a:xfrm>
          <a:prstGeom prst="rect">
            <a:avLst/>
          </a:prstGeom>
        </p:spPr>
      </p:pic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077C99E-5BCE-3889-6DF5-BC36AC61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91" y="1742459"/>
            <a:ext cx="2743200" cy="2057400"/>
          </a:xfrm>
          <a:prstGeom prst="rect">
            <a:avLst/>
          </a:prstGeom>
        </p:spPr>
      </p:pic>
      <p:pic>
        <p:nvPicPr>
          <p:cNvPr id="13" name="Imagen 1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DFA2CB9-2301-8AA0-9C6E-5D5073D92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578" y="1735997"/>
            <a:ext cx="2808748" cy="210656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33737CF-817C-05B7-5D83-29A283058737}"/>
              </a:ext>
            </a:extLst>
          </p:cNvPr>
          <p:cNvSpPr txBox="1"/>
          <p:nvPr/>
        </p:nvSpPr>
        <p:spPr>
          <a:xfrm>
            <a:off x="6705600" y="1981200"/>
            <a:ext cx="4471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La primera simulación me entrega estos resultados que no son fiables ya que el índice efectivo no converge. Por ello se han de tomar mayores valores de máximum </a:t>
            </a:r>
            <a:r>
              <a:rPr lang="es-ES" sz="1600" dirty="0" err="1"/>
              <a:t>grid</a:t>
            </a:r>
            <a:r>
              <a:rPr lang="es-ES" sz="1600" dirty="0"/>
              <a:t> </a:t>
            </a:r>
            <a:r>
              <a:rPr lang="es-ES" sz="1600" dirty="0" err="1"/>
              <a:t>scaling</a:t>
            </a:r>
            <a:r>
              <a:rPr lang="es-ES" sz="1600" dirty="0"/>
              <a:t> y de </a:t>
            </a:r>
            <a:r>
              <a:rPr lang="es-ES" sz="1600" dirty="0" err="1"/>
              <a:t>Grid</a:t>
            </a:r>
            <a:r>
              <a:rPr lang="es-ES" sz="1600" dirty="0"/>
              <a:t> </a:t>
            </a:r>
            <a:r>
              <a:rPr lang="es-ES" sz="1600" dirty="0" err="1"/>
              <a:t>resolution</a:t>
            </a:r>
            <a:r>
              <a:rPr lang="es-ES" sz="1600" dirty="0"/>
              <a:t>.</a:t>
            </a:r>
          </a:p>
        </p:txBody>
      </p:sp>
      <p:pic>
        <p:nvPicPr>
          <p:cNvPr id="16" name="Imagen 1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D37F28B0-3716-F115-A362-E2698C8B9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390" y="3698749"/>
            <a:ext cx="2812160" cy="204865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B4A6A5C-BB82-3094-F824-9215A6133DAE}"/>
              </a:ext>
            </a:extLst>
          </p:cNvPr>
          <p:cNvSpPr txBox="1"/>
          <p:nvPr/>
        </p:nvSpPr>
        <p:spPr>
          <a:xfrm>
            <a:off x="133014" y="3964067"/>
            <a:ext cx="61915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En esta segunda simulación al tomar mayores valores de máximum </a:t>
            </a:r>
            <a:r>
              <a:rPr lang="es-ES" sz="1600" dirty="0" err="1"/>
              <a:t>grid</a:t>
            </a:r>
            <a:r>
              <a:rPr lang="es-ES" sz="1600" dirty="0"/>
              <a:t> </a:t>
            </a:r>
            <a:r>
              <a:rPr lang="es-ES" sz="1600" dirty="0" err="1"/>
              <a:t>scaling</a:t>
            </a:r>
            <a:r>
              <a:rPr lang="es-ES" sz="1600" dirty="0"/>
              <a:t>, la simulación converge a un valor de 2.4477 para el índice efectivo partir de </a:t>
            </a:r>
            <a:r>
              <a:rPr lang="es-ES" sz="1600" dirty="0" err="1"/>
              <a:t>máximum_grid_scaling</a:t>
            </a:r>
            <a:r>
              <a:rPr lang="es-ES" sz="1600" dirty="0"/>
              <a:t> = 1.75. Sin embargo, al simular el </a:t>
            </a:r>
            <a:r>
              <a:rPr lang="es-ES" sz="1600" dirty="0" err="1"/>
              <a:t>n_eff</a:t>
            </a:r>
            <a:r>
              <a:rPr lang="es-ES" sz="1600" dirty="0"/>
              <a:t> con distintos valores de </a:t>
            </a:r>
            <a:r>
              <a:rPr lang="es-ES" sz="1600" dirty="0" err="1"/>
              <a:t>grid</a:t>
            </a:r>
            <a:r>
              <a:rPr lang="es-ES" sz="1600" dirty="0"/>
              <a:t> </a:t>
            </a:r>
            <a:r>
              <a:rPr lang="es-ES" sz="1600" dirty="0" err="1"/>
              <a:t>resolution</a:t>
            </a:r>
            <a:r>
              <a:rPr lang="es-ES" sz="1600" dirty="0"/>
              <a:t>, no converge a un valor tan concreto como la </a:t>
            </a:r>
            <a:r>
              <a:rPr lang="es-ES" sz="1600" dirty="0" err="1"/>
              <a:t>simalución</a:t>
            </a:r>
            <a:r>
              <a:rPr lang="es-ES" sz="1600" dirty="0"/>
              <a:t> a distintos valores de máximum </a:t>
            </a:r>
            <a:r>
              <a:rPr lang="es-ES" sz="1600" dirty="0" err="1"/>
              <a:t>grid</a:t>
            </a:r>
            <a:r>
              <a:rPr lang="es-ES" sz="1600" dirty="0"/>
              <a:t> </a:t>
            </a:r>
            <a:r>
              <a:rPr lang="es-ES" sz="1600" dirty="0" err="1"/>
              <a:t>resolution</a:t>
            </a:r>
            <a:r>
              <a:rPr lang="es-ES" sz="1600" dirty="0"/>
              <a:t>. Parece que el valor que más se asemeja al </a:t>
            </a:r>
            <a:r>
              <a:rPr lang="es-ES" sz="1600" dirty="0" err="1"/>
              <a:t>n_eff</a:t>
            </a:r>
            <a:r>
              <a:rPr lang="es-ES" sz="1600" dirty="0"/>
              <a:t> = 2.447 , es cuando </a:t>
            </a:r>
            <a:r>
              <a:rPr lang="es-ES" sz="1600" dirty="0" err="1"/>
              <a:t>grid_res</a:t>
            </a:r>
            <a:r>
              <a:rPr lang="es-ES" sz="1600" dirty="0"/>
              <a:t> = 70. </a:t>
            </a:r>
          </a:p>
          <a:p>
            <a:endParaRPr lang="es-ES" sz="1600" dirty="0"/>
          </a:p>
          <a:p>
            <a:r>
              <a:rPr lang="es-ES" sz="1600" dirty="0"/>
              <a:t>Por lo que tomaré los siguientes valores para las siguientes simulaciones:</a:t>
            </a:r>
          </a:p>
        </p:txBody>
      </p:sp>
      <p:pic>
        <p:nvPicPr>
          <p:cNvPr id="21" name="Imagen 2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DC3044F-3F12-EA31-018D-160F27B1E5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8550" y="3698749"/>
            <a:ext cx="2969043" cy="216294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CA349A3F-3D0E-5182-FEA7-B9AD3F7BCF5B}"/>
              </a:ext>
            </a:extLst>
          </p:cNvPr>
          <p:cNvSpPr txBox="1"/>
          <p:nvPr/>
        </p:nvSpPr>
        <p:spPr>
          <a:xfrm>
            <a:off x="6216390" y="5932071"/>
            <a:ext cx="3813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/>
              <a:t>grid_res</a:t>
            </a:r>
            <a:r>
              <a:rPr lang="es-ES" sz="1400" b="1" dirty="0"/>
              <a:t> = 70 y </a:t>
            </a:r>
            <a:r>
              <a:rPr lang="es-ES" sz="1400" b="1" dirty="0" err="1"/>
              <a:t>máximum_grid_scaling</a:t>
            </a:r>
            <a:r>
              <a:rPr lang="es-ES" sz="1400" b="1" dirty="0"/>
              <a:t> = 1.75 </a:t>
            </a:r>
          </a:p>
        </p:txBody>
      </p:sp>
    </p:spTree>
    <p:extLst>
      <p:ext uri="{BB962C8B-B14F-4D97-AF65-F5344CB8AC3E}">
        <p14:creationId xmlns:p14="http://schemas.microsoft.com/office/powerpoint/2010/main" val="240362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7C41BF-9915-D91B-E933-63EE70D266C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659C59-276E-7676-C93A-5B1C7BC884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240" y="6206490"/>
            <a:ext cx="2804160" cy="342900"/>
          </a:xfrm>
        </p:spPr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3BB1885B-F8A0-ABE8-0069-429984EA3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53" y="216277"/>
            <a:ext cx="9175346" cy="1634568"/>
          </a:xfrm>
          <a:prstGeom prst="rect">
            <a:avLst/>
          </a:prstGeom>
        </p:spPr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5F1E489-6255-1B0B-7030-C94263B0F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053" y="2205425"/>
            <a:ext cx="4267200" cy="3877985"/>
          </a:xfrm>
        </p:spPr>
        <p:txBody>
          <a:bodyPr/>
          <a:lstStyle/>
          <a:p>
            <a:pPr algn="just" rtl="0"/>
            <a:r>
              <a:rPr lang="es-ES" altLang="es-ES" dirty="0">
                <a:solidFill>
                  <a:srgbClr val="000000"/>
                </a:solidFill>
              </a:rPr>
              <a:t>SOI (Si </a:t>
            </a:r>
            <a:r>
              <a:rPr lang="es-ES" altLang="es-ES" dirty="0" err="1">
                <a:solidFill>
                  <a:srgbClr val="000000"/>
                </a:solidFill>
              </a:rPr>
              <a:t>on</a:t>
            </a:r>
            <a:r>
              <a:rPr lang="es-ES" altLang="es-ES" dirty="0">
                <a:solidFill>
                  <a:srgbClr val="000000"/>
                </a:solidFill>
              </a:rPr>
              <a:t> SiO2) ofrece un contraste entre índices de refracción mayor que la plataforma </a:t>
            </a:r>
            <a:r>
              <a:rPr lang="es-ES" altLang="es-ES" dirty="0" err="1">
                <a:solidFill>
                  <a:srgbClr val="000000"/>
                </a:solidFill>
              </a:rPr>
              <a:t>SiNx</a:t>
            </a:r>
            <a:r>
              <a:rPr lang="es-ES" altLang="es-ES" dirty="0">
                <a:solidFill>
                  <a:srgbClr val="000000"/>
                </a:solidFill>
              </a:rPr>
              <a:t>, por lo que los modos viajarán de manera más confinada en SOI que en </a:t>
            </a:r>
            <a:r>
              <a:rPr lang="es-ES" altLang="es-ES" dirty="0" err="1">
                <a:solidFill>
                  <a:srgbClr val="000000"/>
                </a:solidFill>
              </a:rPr>
              <a:t>SiNx</a:t>
            </a:r>
            <a:r>
              <a:rPr lang="es-ES" altLang="es-ES" dirty="0">
                <a:solidFill>
                  <a:srgbClr val="000000"/>
                </a:solidFill>
              </a:rPr>
              <a:t>.</a:t>
            </a:r>
          </a:p>
          <a:p>
            <a:pPr algn="just" rtl="0"/>
            <a:endParaRPr lang="es-ES" altLang="es-ES" dirty="0">
              <a:solidFill>
                <a:srgbClr val="000000"/>
              </a:solidFill>
            </a:endParaRPr>
          </a:p>
          <a:p>
            <a:pPr algn="just" rtl="0"/>
            <a:r>
              <a:rPr lang="es-ES" altLang="es-ES" dirty="0">
                <a:solidFill>
                  <a:srgbClr val="000000"/>
                </a:solidFill>
              </a:rPr>
              <a:t>En esta plataforma, el incremento del índice efectivo es mayor que en el caso del </a:t>
            </a:r>
            <a:r>
              <a:rPr lang="es-ES" altLang="es-ES" dirty="0" err="1">
                <a:solidFill>
                  <a:srgbClr val="000000"/>
                </a:solidFill>
              </a:rPr>
              <a:t>SiNx</a:t>
            </a:r>
            <a:r>
              <a:rPr lang="es-ES" altLang="es-ES" dirty="0">
                <a:solidFill>
                  <a:srgbClr val="000000"/>
                </a:solidFill>
              </a:rPr>
              <a:t>. Los modos de orden 1 se propagan al hacer una variación pequeña en el ancho de la guía. Por lo que podemos concluir que la tecnología SOI es mucho más sensible a errores de fabricación. </a:t>
            </a:r>
          </a:p>
          <a:p>
            <a:endParaRPr lang="es-ES" dirty="0"/>
          </a:p>
        </p:txBody>
      </p:sp>
      <p:pic>
        <p:nvPicPr>
          <p:cNvPr id="14" name="Imagen 1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B859318-3F29-2110-A6BA-E059DE319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114134"/>
            <a:ext cx="654478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3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64FB6F-7560-F708-4925-9B313E2FA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459504"/>
            <a:ext cx="6066043" cy="3323987"/>
          </a:xfrm>
        </p:spPr>
        <p:txBody>
          <a:bodyPr/>
          <a:lstStyle/>
          <a:p>
            <a:r>
              <a:rPr lang="es-ES" dirty="0"/>
              <a:t>Como el confinamiento es mayor en esta tecnología, las pérdidas totales son (un orden de magnitud) menores en SOI que en </a:t>
            </a:r>
            <a:r>
              <a:rPr lang="es-ES" dirty="0" err="1"/>
              <a:t>SiNx</a:t>
            </a:r>
            <a:r>
              <a:rPr lang="es-ES" dirty="0"/>
              <a:t>. </a:t>
            </a:r>
          </a:p>
          <a:p>
            <a:r>
              <a:rPr lang="es-ES" dirty="0"/>
              <a:t>Como consecuencia de este confinamiento, la tecnología SOI ofrece un radio de curvatura seguro (10-15 </a:t>
            </a:r>
            <a:r>
              <a:rPr lang="es-ES" dirty="0" err="1"/>
              <a:t>um</a:t>
            </a:r>
            <a:r>
              <a:rPr lang="es-ES" dirty="0"/>
              <a:t>) menor al que ofrece la plataforma </a:t>
            </a:r>
            <a:r>
              <a:rPr lang="es-ES" dirty="0" err="1"/>
              <a:t>SiNx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Se puede concluir que la plataforma SOI permite fabricar dispositivos más compactos y con menores pérdidas, pero mucho más sensibles a errores de fabricación.</a:t>
            </a:r>
          </a:p>
          <a:p>
            <a:r>
              <a:rPr lang="es-ES" dirty="0"/>
              <a:t>Además, al simular dispositivos en esta plataforma se requiere una mayor capacidad de computo, traduciéndose esto en tiempo y recursos. 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245D10-0B99-80CB-456D-E56739FC5EB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897E6A-3847-519F-3FCD-50C3DDA966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EC1788F2-82AA-1873-6331-94EB9A3F8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963"/>
            <a:ext cx="8373371" cy="1601092"/>
          </a:xfrm>
          <a:prstGeom prst="rect">
            <a:avLst/>
          </a:prstGeom>
        </p:spPr>
      </p:pic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9609E018-B32F-752A-925B-926F95A88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262" y="2133600"/>
            <a:ext cx="4951079" cy="38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8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</TotalTime>
  <Words>1329</Words>
  <Application>Microsoft Office PowerPoint</Application>
  <PresentationFormat>Panorámica</PresentationFormat>
  <Paragraphs>95</Paragraphs>
  <Slides>11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</vt:lpstr>
      <vt:lpstr>Learning outcome #3 – Waveguide compact model Let’s model the waveguide using a second order polynomial:  n_eff (λ)=n_1+n_2 (λ-λ_0 )+n_3 (λ-λ_0 )^2 </vt:lpstr>
      <vt:lpstr>Learning outcome #4 – Bend waveguide radius vs. loss – deep Find  neff_TE0 for wvl 1.55 µm, width 1.0 µm for R=25,50,75,100, 125,150 µm </vt:lpstr>
      <vt:lpstr>Presentación de PowerPoint</vt:lpstr>
      <vt:lpstr>Presentación de PowerPoint</vt:lpstr>
      <vt:lpstr>Presentación de PowerPoint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Marcos Carañana Castillo</cp:lastModifiedBy>
  <cp:revision>28</cp:revision>
  <dcterms:created xsi:type="dcterms:W3CDTF">2025-01-27T02:46:57Z</dcterms:created>
  <dcterms:modified xsi:type="dcterms:W3CDTF">2026-03-04T09:26:01Z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